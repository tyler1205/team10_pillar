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5F882-B834-979A-EAD6-2E5337BE2DC8}" v="721" dt="2026-03-04T23:11:30.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6423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991064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593210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894608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911117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928548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508060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134372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231711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07716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91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3/4/2026</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4720154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61" r:id="rId7"/>
    <p:sldLayoutId id="2147483757" r:id="rId8"/>
    <p:sldLayoutId id="2147483758" r:id="rId9"/>
    <p:sldLayoutId id="2147483759" r:id="rId10"/>
    <p:sldLayoutId id="2147483760"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A7A1056-477D-8C1F-007D-CA7B953F6793}"/>
              </a:ext>
            </a:extLst>
          </p:cNvPr>
          <p:cNvPicPr>
            <a:picLocks noChangeAspect="1"/>
          </p:cNvPicPr>
          <p:nvPr/>
        </p:nvPicPr>
        <p:blipFill>
          <a:blip r:embed="rId2">
            <a:alphaModFix amt="50000"/>
          </a:blip>
          <a:srcRect t="21754" r="-2" b="21994"/>
          <a:stretch>
            <a:fillRect/>
          </a:stretch>
        </p:blipFill>
        <p:spPr>
          <a:xfrm>
            <a:off x="20" y="10"/>
            <a:ext cx="12191979" cy="6857989"/>
          </a:xfrm>
          <a:prstGeom prst="rect">
            <a:avLst/>
          </a:prstGeom>
        </p:spPr>
      </p:pic>
      <p:sp>
        <p:nvSpPr>
          <p:cNvPr id="2" name="Title 1"/>
          <p:cNvSpPr>
            <a:spLocks noGrp="1"/>
          </p:cNvSpPr>
          <p:nvPr>
            <p:ph type="ctrTitle"/>
          </p:nvPr>
        </p:nvSpPr>
        <p:spPr>
          <a:xfrm>
            <a:off x="4426526" y="1261872"/>
            <a:ext cx="7279885" cy="2852928"/>
          </a:xfrm>
        </p:spPr>
        <p:txBody>
          <a:bodyPr>
            <a:normAutofit/>
          </a:bodyPr>
          <a:lstStyle/>
          <a:p>
            <a:pPr algn="r"/>
            <a:r>
              <a:rPr lang="en-US" sz="9600">
                <a:solidFill>
                  <a:srgbClr val="FFFFFF"/>
                </a:solidFill>
              </a:rPr>
              <a:t>Pillar</a:t>
            </a:r>
          </a:p>
        </p:txBody>
      </p:sp>
      <p:sp>
        <p:nvSpPr>
          <p:cNvPr id="3" name="Subtitle 2"/>
          <p:cNvSpPr>
            <a:spLocks noGrp="1"/>
          </p:cNvSpPr>
          <p:nvPr>
            <p:ph type="subTitle" idx="1"/>
          </p:nvPr>
        </p:nvSpPr>
        <p:spPr>
          <a:xfrm>
            <a:off x="4779818" y="4681728"/>
            <a:ext cx="6902550" cy="929296"/>
          </a:xfrm>
        </p:spPr>
        <p:txBody>
          <a:bodyPr vert="horz" lIns="91440" tIns="45720" rIns="91440" bIns="45720" rtlCol="0">
            <a:normAutofit/>
          </a:bodyPr>
          <a:lstStyle/>
          <a:p>
            <a:pPr algn="r"/>
            <a:r>
              <a:rPr lang="en-US">
                <a:solidFill>
                  <a:srgbClr val="FFFFFF"/>
                </a:solidFill>
              </a:rPr>
              <a:t>By Vince Kang, Nathanael Afuakwah, Tyler Duong</a:t>
            </a:r>
          </a:p>
        </p:txBody>
      </p:sp>
      <p:sp>
        <p:nvSpPr>
          <p:cNvPr id="13" name="Rectangle 12">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3">
              <a:alphaModFix amt="99000"/>
              <a:extLst>
                <a:ext uri="{96DAC541-7B7A-43D3-8B79-37D633B846F1}">
                  <asvg:svgBlip xmlns:asvg="http://schemas.microsoft.com/office/drawing/2016/SVG/main" r:embed="rId4"/>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C106D-EB17-7B53-AA05-111BC00C87CF}"/>
              </a:ext>
            </a:extLst>
          </p:cNvPr>
          <p:cNvSpPr>
            <a:spLocks noGrp="1"/>
          </p:cNvSpPr>
          <p:nvPr>
            <p:ph type="title"/>
          </p:nvPr>
        </p:nvSpPr>
        <p:spPr>
          <a:xfrm>
            <a:off x="666129" y="-380429"/>
            <a:ext cx="10357666" cy="1438450"/>
          </a:xfrm>
        </p:spPr>
        <p:txBody>
          <a:bodyPr/>
          <a:lstStyle/>
          <a:p>
            <a:r>
              <a:rPr lang="en-US"/>
              <a:t>METRICS</a:t>
            </a:r>
          </a:p>
        </p:txBody>
      </p:sp>
      <p:sp>
        <p:nvSpPr>
          <p:cNvPr id="3" name="Content Placeholder 2">
            <a:extLst>
              <a:ext uri="{FF2B5EF4-FFF2-40B4-BE49-F238E27FC236}">
                <a16:creationId xmlns:a16="http://schemas.microsoft.com/office/drawing/2014/main" id="{FA461916-BF84-D4F5-1DE1-74CD830EBCBB}"/>
              </a:ext>
            </a:extLst>
          </p:cNvPr>
          <p:cNvSpPr>
            <a:spLocks noGrp="1"/>
          </p:cNvSpPr>
          <p:nvPr>
            <p:ph idx="1"/>
          </p:nvPr>
        </p:nvSpPr>
        <p:spPr>
          <a:xfrm>
            <a:off x="918302" y="1054465"/>
            <a:ext cx="10357666" cy="4114801"/>
          </a:xfrm>
        </p:spPr>
        <p:txBody>
          <a:bodyPr vert="horz" lIns="91440" tIns="45720" rIns="91440" bIns="45720" rtlCol="0" anchor="t">
            <a:normAutofit/>
          </a:bodyPr>
          <a:lstStyle/>
          <a:p>
            <a:r>
              <a:rPr lang="en-US"/>
              <a:t>How many Stories rolled over: 3</a:t>
            </a:r>
            <a:endParaRPr lang="en-US" dirty="0"/>
          </a:p>
          <a:p>
            <a:r>
              <a:rPr lang="en-US"/>
              <a:t>How many stories have been completed: 1</a:t>
            </a:r>
            <a:endParaRPr lang="en-US" dirty="0"/>
          </a:p>
          <a:p>
            <a:r>
              <a:rPr lang="en-US"/>
              <a:t>Average Number of stories completed per sprint: 0.3</a:t>
            </a:r>
            <a:endParaRPr lang="en-US" dirty="0"/>
          </a:p>
          <a:p>
            <a:r>
              <a:rPr lang="en-US"/>
              <a:t>Average</a:t>
            </a:r>
            <a:r>
              <a:rPr lang="en-US" dirty="0"/>
              <a:t> Number of Story points:</a:t>
            </a:r>
          </a:p>
          <a:p>
            <a:pPr lvl="1">
              <a:buFont typeface="Courier New" panose="020B0604020202020204" pitchFamily="34" charset="0"/>
              <a:buChar char="o"/>
            </a:pPr>
            <a:r>
              <a:rPr lang="en-US" sz="2000" dirty="0"/>
              <a:t>Tyler </a:t>
            </a:r>
            <a:r>
              <a:rPr lang="en-US" sz="2000"/>
              <a:t>Duong: 0.3</a:t>
            </a:r>
            <a:endParaRPr lang="en-US" sz="2000" dirty="0"/>
          </a:p>
          <a:p>
            <a:pPr lvl="1">
              <a:buFont typeface="Courier New" panose="020B0604020202020204" pitchFamily="34" charset="0"/>
              <a:buChar char="o"/>
            </a:pPr>
            <a:r>
              <a:rPr lang="en-US" sz="2000" dirty="0">
                <a:latin typeface="Avenir Next LT Pro Light"/>
              </a:rPr>
              <a:t>Nathanael </a:t>
            </a:r>
            <a:r>
              <a:rPr lang="en-US" sz="2000" dirty="0" err="1">
                <a:latin typeface="Avenir Next LT Pro Light"/>
              </a:rPr>
              <a:t>Afuakwah</a:t>
            </a:r>
            <a:r>
              <a:rPr lang="en-US" sz="2000" dirty="0">
                <a:latin typeface="Avenir Next LT Pro Light"/>
              </a:rPr>
              <a:t>: 0</a:t>
            </a:r>
          </a:p>
          <a:p>
            <a:pPr lvl="1">
              <a:buFont typeface="Courier New" panose="020B0604020202020204" pitchFamily="34" charset="0"/>
              <a:buChar char="o"/>
            </a:pPr>
            <a:r>
              <a:rPr lang="en-US" sz="2000">
                <a:latin typeface="Avenir Next LT Pro Light"/>
              </a:rPr>
              <a:t>Vince Kang: 0</a:t>
            </a:r>
            <a:endParaRPr lang="en-US" sz="2000" dirty="0">
              <a:latin typeface="Avenir Next LT Pro Light"/>
            </a:endParaRPr>
          </a:p>
          <a:p>
            <a:endParaRPr lang="en-US" dirty="0"/>
          </a:p>
        </p:txBody>
      </p:sp>
      <p:sp>
        <p:nvSpPr>
          <p:cNvPr id="4" name="TextBox 3">
            <a:extLst>
              <a:ext uri="{FF2B5EF4-FFF2-40B4-BE49-F238E27FC236}">
                <a16:creationId xmlns:a16="http://schemas.microsoft.com/office/drawing/2014/main" id="{0E49707D-A97C-03F9-4157-BE1E75110739}"/>
              </a:ext>
            </a:extLst>
          </p:cNvPr>
          <p:cNvSpPr txBox="1"/>
          <p:nvPr/>
        </p:nvSpPr>
        <p:spPr>
          <a:xfrm>
            <a:off x="668806" y="4835136"/>
            <a:ext cx="694790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Stories are rolling over since work is not being done properly, and poor communication between teammates have caused stories to not even be made in the first place to be created/compl</a:t>
            </a:r>
            <a:r>
              <a:rPr lang="en-US" sz="2000"/>
              <a:t>eted.</a:t>
            </a:r>
            <a:endParaRPr lang="en-US" sz="2000" dirty="0"/>
          </a:p>
        </p:txBody>
      </p:sp>
    </p:spTree>
    <p:extLst>
      <p:ext uri="{BB962C8B-B14F-4D97-AF65-F5344CB8AC3E}">
        <p14:creationId xmlns:p14="http://schemas.microsoft.com/office/powerpoint/2010/main" val="3899345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AA56-F24D-B28A-14B5-9981D9B575D9}"/>
              </a:ext>
            </a:extLst>
          </p:cNvPr>
          <p:cNvSpPr>
            <a:spLocks noGrp="1"/>
          </p:cNvSpPr>
          <p:nvPr>
            <p:ph type="title"/>
          </p:nvPr>
        </p:nvSpPr>
        <p:spPr/>
        <p:txBody>
          <a:bodyPr/>
          <a:lstStyle/>
          <a:p>
            <a:r>
              <a:rPr lang="en-US"/>
              <a:t>Retrospective</a:t>
            </a:r>
          </a:p>
        </p:txBody>
      </p:sp>
      <p:sp>
        <p:nvSpPr>
          <p:cNvPr id="3" name="Content Placeholder 2">
            <a:extLst>
              <a:ext uri="{FF2B5EF4-FFF2-40B4-BE49-F238E27FC236}">
                <a16:creationId xmlns:a16="http://schemas.microsoft.com/office/drawing/2014/main" id="{E6878C9C-8E9B-63A6-D863-D9FEA377990E}"/>
              </a:ext>
            </a:extLst>
          </p:cNvPr>
          <p:cNvSpPr>
            <a:spLocks noGrp="1"/>
          </p:cNvSpPr>
          <p:nvPr>
            <p:ph idx="1"/>
          </p:nvPr>
        </p:nvSpPr>
        <p:spPr/>
        <p:txBody>
          <a:bodyPr vert="horz" lIns="91440" tIns="45720" rIns="91440" bIns="45720" rtlCol="0" anchor="t">
            <a:normAutofit/>
          </a:bodyPr>
          <a:lstStyle/>
          <a:p>
            <a:r>
              <a:rPr lang="en-US"/>
              <a:t>What Went Well</a:t>
            </a:r>
          </a:p>
          <a:p>
            <a:pPr lvl="1">
              <a:buFont typeface="Courier New,monospace" panose="020B0604020202020204" pitchFamily="34" charset="0"/>
              <a:buChar char="o"/>
            </a:pPr>
            <a:r>
              <a:rPr lang="en-US"/>
              <a:t>Our team knows what needs to be done for the project</a:t>
            </a:r>
          </a:p>
          <a:p>
            <a:pPr lvl="1">
              <a:buFont typeface="Courier New,monospace" panose="020B0604020202020204" pitchFamily="34" charset="0"/>
              <a:buChar char="o"/>
            </a:pPr>
            <a:r>
              <a:rPr lang="en-US"/>
              <a:t>Everyone knows the general concept and principal of the items needed for the project</a:t>
            </a:r>
          </a:p>
          <a:p>
            <a:pPr marL="228600" lvl="1" indent="0">
              <a:buNone/>
            </a:pPr>
            <a:endParaRPr lang="en-US" dirty="0"/>
          </a:p>
          <a:p>
            <a:r>
              <a:rPr lang="en-US"/>
              <a:t>Could have went better</a:t>
            </a:r>
            <a:endParaRPr lang="en-US" dirty="0"/>
          </a:p>
          <a:p>
            <a:pPr lvl="1">
              <a:buFont typeface="Courier New,monospace" panose="020B0604020202020204" pitchFamily="34" charset="0"/>
              <a:buChar char="o"/>
            </a:pPr>
            <a:r>
              <a:rPr lang="en-US" dirty="0"/>
              <a:t>Communication could have been increased, which would result in a concise idea of the project so everyone was on the same page. This would have also let everyone unde</a:t>
            </a:r>
            <a:r>
              <a:rPr lang="en-US"/>
              <a:t>rstand what stories to work on and create</a:t>
            </a:r>
            <a:endParaRPr lang="en-US" dirty="0"/>
          </a:p>
        </p:txBody>
      </p:sp>
    </p:spTree>
    <p:extLst>
      <p:ext uri="{BB962C8B-B14F-4D97-AF65-F5344CB8AC3E}">
        <p14:creationId xmlns:p14="http://schemas.microsoft.com/office/powerpoint/2010/main" val="1353734048"/>
      </p:ext>
    </p:extLst>
  </p:cSld>
  <p:clrMapOvr>
    <a:masterClrMapping/>
  </p:clrMapOvr>
</p:sld>
</file>

<file path=ppt/theme/theme1.xml><?xml version="1.0" encoding="utf-8"?>
<a:theme xmlns:a="http://schemas.openxmlformats.org/drawingml/2006/main" name="VeniceBeachVTI">
  <a:themeElements>
    <a:clrScheme name="Venice Beach">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VeniceBeachVTI</vt:lpstr>
      <vt:lpstr>Pillar</vt:lpstr>
      <vt:lpstr>METRICS</vt:lpstr>
      <vt:lpstr>Retrospective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91</cp:revision>
  <dcterms:created xsi:type="dcterms:W3CDTF">2026-03-04T22:56:49Z</dcterms:created>
  <dcterms:modified xsi:type="dcterms:W3CDTF">2026-03-04T23:14:06Z</dcterms:modified>
</cp:coreProperties>
</file>